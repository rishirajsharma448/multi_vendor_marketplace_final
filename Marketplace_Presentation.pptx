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F3D"/>
            </a:gs>
            <a:gs pos="100000">
              <a:srgbClr val="1E0A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4F6DF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8B5C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3200400" cy="3200400"/>
          </a:xfrm>
          <a:prstGeom prst="ellipse">
            <a:avLst/>
          </a:prstGeom>
          <a:solidFill>
            <a:srgbClr val="8B5CF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457200"/>
            <a:ext cx="137160" cy="137160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1097280"/>
            <a:ext cx="91440" cy="91440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486400"/>
            <a:ext cx="109728" cy="109728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943600"/>
            <a:ext cx="73152" cy="73152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274320"/>
            <a:ext cx="118872" cy="118872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822960"/>
            <a:ext cx="7589520" cy="5120640"/>
          </a:xfrm>
          <a:prstGeom prst="round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822960"/>
            <a:ext cx="7589520" cy="54864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234440"/>
            <a:ext cx="283464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  <a:latin typeface="Poppins"/>
              </a:defRPr>
            </a:pPr>
            <a:r>
              <a:t>INTERNSHIP FINAL YEAR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8288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B4B"/>
                </a:solidFill>
                <a:latin typeface="Poppins"/>
              </a:defRPr>
            </a:pPr>
            <a:r>
              <a:t>Multi-Vendor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2316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366F1"/>
                </a:solidFill>
                <a:latin typeface="Poppins"/>
              </a:defRPr>
            </a:pPr>
            <a:r>
              <a:t>Marketplace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108960"/>
            <a:ext cx="30175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2918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 Emoji"/>
              </a:defRPr>
            </a:pPr>
            <a:r>
              <a:t>🛒   📦   💳   🏪   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8862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Poppins"/>
              </a:defRPr>
            </a:pPr>
            <a:r>
              <a:t>Presented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16052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B4B"/>
                </a:solidFill>
                <a:latin typeface="Poppins"/>
              </a:defRPr>
            </a:pPr>
            <a:r>
              <a:t>Rishiraj Sharma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7091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Poppins"/>
              </a:defRPr>
            </a:pPr>
            <a:r>
              <a:t>Diploma in Computer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292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Poppins"/>
              </a:defRPr>
            </a:pPr>
            <a:r>
              <a:t>G. V. Acharya Polytechnic  •  Academic Year 2025–2026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888736"/>
            <a:ext cx="7589520" cy="54864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Understanding Multi-Vendor Marketplaces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2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08760"/>
            <a:ext cx="105156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08760"/>
            <a:ext cx="54864" cy="128016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1691640"/>
            <a:ext cx="457200" cy="45720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4592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What is a Multi-Vendor Marketplace?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Poppins"/>
              </a:defRPr>
            </a:pPr>
            <a:r>
              <a:t>An e-commerce platform where multiple independent vendors list and sell products through one unified storefront, managed by a central administrator.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40"/>
            <a:ext cx="329184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63240"/>
            <a:ext cx="3291840" cy="4572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291840"/>
            <a:ext cx="457200" cy="45720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Amazon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World's largest online</a:t>
            </a:r>
            <a:br/>
            <a:r>
              <a:t>marketplace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063240"/>
            <a:ext cx="329184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063240"/>
            <a:ext cx="32918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17720" y="32918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Flipkart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India's leading</a:t>
            </a:r>
            <a:br/>
            <a:r>
              <a:t>e-commerce platform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063240"/>
            <a:ext cx="329184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06324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0" y="32918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Etsy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Handmade &amp; vintage</a:t>
            </a:r>
            <a:br/>
            <a:r>
              <a:t>specialty goods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B4B"/>
                </a:solidFill>
                <a:latin typeface="Poppins"/>
              </a:defRPr>
            </a:pPr>
            <a:r>
              <a:t>Key Benefits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303520"/>
            <a:ext cx="502920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✅  Wider product selection for customers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303520"/>
            <a:ext cx="502920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✅  Low startup cost for vendors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06440"/>
            <a:ext cx="502920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852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✅  Revenue through commissions for platform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806440"/>
            <a:ext cx="502920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852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✅  Centralized order &amp; inventory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Challenges that inspired this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3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2120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54480"/>
            <a:ext cx="54864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18745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74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1B4B"/>
                </a:solidFill>
                <a:latin typeface="Poppins"/>
              </a:defRPr>
            </a:pPr>
            <a:r>
              <a:t>Limited Online Presence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60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Small businesses lack the technical resources and budget to build their own e-commerce platforms, restricting their growth potential.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52120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54864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874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1B4B"/>
                </a:solidFill>
                <a:latin typeface="Poppins"/>
              </a:defRPr>
            </a:pPr>
            <a:r>
              <a:t>No Centralized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560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Managing vendors, products, and orders across multiple disconnected systems creates inefficiency and data inconsistencies.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23360"/>
            <a:ext cx="52120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02336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43434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43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1B4B"/>
                </a:solidFill>
                <a:latin typeface="Poppins"/>
              </a:defRPr>
            </a:pPr>
            <a:r>
              <a:t>Difficulty Reaching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0292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Individual vendors struggle to attract traffic, build trust, and compete with established large-scale retailers online.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023360"/>
            <a:ext cx="52120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023360"/>
            <a:ext cx="54864" cy="219456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4343400"/>
            <a:ext cx="548640" cy="54864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343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1B4B"/>
                </a:solidFill>
                <a:latin typeface="Poppins"/>
              </a:defRPr>
            </a:pPr>
            <a:r>
              <a:t>Security Concerns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292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Absence of secure authentication, role-based access control, and proper data validation puts user data and transactions at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Goals driving the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4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3520440" cy="4572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83080" y="1783080"/>
            <a:ext cx="640080" cy="64008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B4B"/>
                </a:solidFill>
                <a:latin typeface="Poppins"/>
              </a:defRPr>
            </a:pPr>
            <a:r>
              <a:t>Centralized Marketplace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Poppins"/>
              </a:defRPr>
            </a:pPr>
            <a:r>
              <a:t>Build a unified platform connecting vendors and 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5448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54480"/>
            <a:ext cx="35204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7840" y="17830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60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B4B"/>
                </a:solidFill>
                <a:latin typeface="Poppins"/>
              </a:defRPr>
            </a:pPr>
            <a:r>
              <a:t>Secure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9718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Role-based login with password hashing &amp; session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55448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54480"/>
            <a:ext cx="35204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72600" y="178308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60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B4B"/>
                </a:solidFill>
                <a:latin typeface="Poppins"/>
              </a:defRPr>
            </a:pPr>
            <a:r>
              <a:t>Vendor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718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Poppins"/>
              </a:defRPr>
            </a:pPr>
            <a:r>
              <a:t>Admin-approved vendor registration with store profiles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6908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069080"/>
            <a:ext cx="35204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83080" y="42976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B4B"/>
                </a:solidFill>
                <a:latin typeface="Poppins"/>
              </a:defRPr>
            </a:pPr>
            <a:r>
              <a:t>Product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Poppins"/>
              </a:defRPr>
            </a:pPr>
            <a:r>
              <a:t>Full CRUD with categories, images &amp; inventory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06908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4069080"/>
            <a:ext cx="35204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77840" y="429768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074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B4B"/>
                </a:solidFill>
                <a:latin typeface="Poppins"/>
              </a:defRPr>
            </a:pPr>
            <a:r>
              <a:t>Order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4864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Real-time order status updates for all stakeholders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06908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069080"/>
            <a:ext cx="35204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372600" y="42976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074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B4B"/>
                </a:solidFill>
                <a:latin typeface="Poppins"/>
              </a:defRPr>
            </a:pPr>
            <a:r>
              <a:t>Responsive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4864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Poppins"/>
              </a:defRPr>
            </a:pPr>
            <a:r>
              <a:t>Mobile-first interface working on all screen sizes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System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Three key roles powering the marketplace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5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361188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611880" cy="54864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40" y="1737360"/>
            <a:ext cx="777240" cy="77724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>
                <a:latin typeface="Segoe UI Emoji"/>
              </a:defRPr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B4B"/>
                </a:solidFill>
                <a:latin typeface="Poppins"/>
              </a:defRPr>
            </a:pPr>
            <a:r>
              <a:t>Customer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063240"/>
            <a:ext cx="1417320" cy="27432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Browse &amp; search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Add to cart &amp; wishlist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8912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Place &amp; track 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Write product reviews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86399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Manage profile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1508760"/>
            <a:ext cx="361188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1508760"/>
            <a:ext cx="3611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23560" y="1737360"/>
            <a:ext cx="777240" cy="777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>
                <a:latin typeface="Segoe UI Emoji"/>
              </a:defRPr>
            </a:pPr>
            <a:r>
              <a:t>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651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B4B"/>
                </a:solidFill>
                <a:latin typeface="Poppins"/>
              </a:defRPr>
            </a:pPr>
            <a:r>
              <a:t>Vendor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063240"/>
            <a:ext cx="1417320" cy="27432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0" y="329184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Register &amp; manage store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384048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Add / edit / delete products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38912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Manage inventory &amp; stock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493776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Process incoming orders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5486399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View sales analytics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1508760"/>
            <a:ext cx="361188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1508760"/>
            <a:ext cx="3611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55480" y="173736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>
                <a:latin typeface="Segoe UI Emoji"/>
              </a:defRPr>
            </a:pPr>
            <a:r>
              <a:t>🛡️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651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B4B"/>
                </a:solidFill>
                <a:latin typeface="Poppins"/>
              </a:defRPr>
            </a:pPr>
            <a:r>
              <a:t>Admin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063240"/>
            <a:ext cx="1417320" cy="27432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03920" y="329184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Approve / reject vendors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0" y="384048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Manage all users &amp; products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3920" y="438912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View platform analytics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4937760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108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Monitor orders &amp; payments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03920" y="5486399"/>
            <a:ext cx="3246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oppins"/>
              </a:defRPr>
            </a:pPr>
            <a:r>
              <a:t>▸  System-wide oversight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High-level system design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6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63040"/>
            <a:ext cx="201168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6DF5"/>
                </a:solidFill>
                <a:latin typeface="Poppins"/>
              </a:defRPr>
            </a:pPr>
            <a:r>
              <a:t>PRESENTATION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1920240"/>
            <a:ext cx="29260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1920240"/>
            <a:ext cx="54864" cy="105156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" y="2057400"/>
            <a:ext cx="411480" cy="41148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Customer</a:t>
            </a:r>
            <a:br/>
            <a:r>
              <a:t>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920240"/>
            <a:ext cx="29260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92024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46320" y="205740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Vendor</a:t>
            </a:r>
            <a:br/>
            <a:r>
              <a:t>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20240"/>
            <a:ext cx="29260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0" y="205740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Admin</a:t>
            </a:r>
            <a:br/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F6DF5"/>
                </a:solidFill>
                <a:latin typeface="Poppins"/>
              </a:defRPr>
            </a:pPr>
            <a:r>
              <a:t>▼   ▼   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429000"/>
            <a:ext cx="2011680" cy="320040"/>
          </a:xfrm>
          <a:prstGeom prst="round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5CF6"/>
                </a:solidFill>
                <a:latin typeface="Poppins"/>
              </a:defRPr>
            </a:pPr>
            <a:r>
              <a:t>APPLICATION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3840480"/>
            <a:ext cx="99669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71600" y="3977639"/>
            <a:ext cx="2103120" cy="502920"/>
          </a:xfrm>
          <a:prstGeom prst="round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5CF6"/>
                </a:solidFill>
                <a:latin typeface="Poppins"/>
              </a:defRPr>
            </a:pPr>
            <a:r>
              <a:t>⚙️  PHP 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977639"/>
            <a:ext cx="2103120" cy="502920"/>
          </a:xfrm>
          <a:prstGeom prst="round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5CF6"/>
                </a:solidFill>
                <a:latin typeface="Poppins"/>
              </a:defRPr>
            </a:pPr>
            <a:r>
              <a:t>⚙️  REST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977639"/>
            <a:ext cx="2103120" cy="502920"/>
          </a:xfrm>
          <a:prstGeom prst="round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5CF6"/>
                </a:solidFill>
                <a:latin typeface="Poppins"/>
              </a:defRPr>
            </a:pPr>
            <a:r>
              <a:t>⚙️  Session Mgmt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3977639"/>
            <a:ext cx="2103120" cy="502920"/>
          </a:xfrm>
          <a:prstGeom prst="round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5CF6"/>
                </a:solidFill>
                <a:latin typeface="Poppins"/>
              </a:defRPr>
            </a:pPr>
            <a:r>
              <a:t>⚙️  Auth &amp; RBAC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800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5CF6"/>
                </a:solidFill>
                <a:latin typeface="Poppins"/>
              </a:defRPr>
            </a:pPr>
            <a:r>
              <a:t>▼   ▼   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212080"/>
            <a:ext cx="1463040" cy="32004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Poppins"/>
              </a:defRPr>
            </a:pPr>
            <a:r>
              <a:t>DATA LAYER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5532120"/>
            <a:ext cx="7040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26080" y="5669280"/>
            <a:ext cx="2926080" cy="50292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Poppins"/>
              </a:defRPr>
            </a:pPr>
            <a:r>
              <a:t>🗄️  MySQL Database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669280"/>
            <a:ext cx="2926080" cy="50292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Poppins"/>
              </a:defRPr>
            </a:pPr>
            <a:r>
              <a:t>📁  File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Tools &amp; technologies powering the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7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361188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611880" cy="54864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40" y="1691640"/>
            <a:ext cx="640080" cy="64008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1B4B"/>
                </a:solidFill>
                <a:latin typeface="Poppins"/>
              </a:defRPr>
            </a:pPr>
            <a:r>
              <a:t>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788920"/>
            <a:ext cx="1234440" cy="27432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017520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HTML5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Structure &amp; semantics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CSS3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Styling &amp; animations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71999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177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JavaScript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9203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Client-side interactivity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49239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949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Bootstrap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7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Responsive UI framework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1508760"/>
            <a:ext cx="361188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1508760"/>
            <a:ext cx="3611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23560" y="169164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423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1B4B"/>
                </a:solidFill>
                <a:latin typeface="Poppins"/>
              </a:defRPr>
            </a:pPr>
            <a:r>
              <a:t>Backend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2788920"/>
            <a:ext cx="1234440" cy="27432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0" y="3017520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063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PHP 8.x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Server-side logic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794760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840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MySQL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114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Relational database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4571999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46177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XAMPP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89203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Local development server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349239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53949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Apache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566927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Web server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508760"/>
            <a:ext cx="361188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1508760"/>
            <a:ext cx="3611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55480" y="16916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🛠️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423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1B4B"/>
                </a:solidFill>
                <a:latin typeface="Poppins"/>
              </a:defRPr>
            </a:pPr>
            <a:r>
              <a:t>Dev Tools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2788920"/>
            <a:ext cx="1234440" cy="27432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03920" y="3017520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063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VS Code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Code editor &amp; IDE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03920" y="3794760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0" y="3840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Git &amp; GitHub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114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Version control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03920" y="4571999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6177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Chrome DevTools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89203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Debugging &amp; testing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03920" y="5349239"/>
            <a:ext cx="3246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0" y="53949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B4B"/>
                </a:solidFill>
                <a:latin typeface="Poppins"/>
              </a:defRPr>
            </a:pPr>
            <a:r>
              <a:t>phpMyAdmin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566927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Database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16 interconnected tables powering the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8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54864" cy="150876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48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onsolas"/>
              </a:defRPr>
            </a:pPr>
            <a:r>
              <a:t>id, name, email, role,</a:t>
            </a:r>
            <a:br/>
            <a:r>
              <a:t>password_hash,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0876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08760"/>
            <a:ext cx="54864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164592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Vendors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onsolas"/>
              </a:defRPr>
            </a:pPr>
            <a:r>
              <a:t>store_name, owner, gstin,</a:t>
            </a:r>
            <a:br/>
            <a:r>
              <a:t>status, commission_rate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50876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08760"/>
            <a:ext cx="54864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16459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148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onsolas"/>
              </a:defRPr>
            </a:pPr>
            <a:r>
              <a:t>title, price, stock, sku,</a:t>
            </a:r>
            <a:br/>
            <a:r>
              <a:t>category_id, vendor_id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4612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4612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886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onsolas"/>
              </a:defRPr>
            </a:pPr>
            <a:r>
              <a:t>name, slug, icon,</a:t>
            </a:r>
            <a:br/>
            <a:r>
              <a:t>parent_id, 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24612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246120"/>
            <a:ext cx="54864" cy="150876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383280"/>
            <a:ext cx="411480" cy="41148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Cart &amp; Items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886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onsolas"/>
              </a:defRPr>
            </a:pPr>
            <a:r>
              <a:t>user_id, product_id,</a:t>
            </a:r>
            <a:br/>
            <a:r>
              <a:t>quantity, price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24612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246120"/>
            <a:ext cx="54864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21040" y="338328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❤️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Wishlist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886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onsolas"/>
              </a:defRPr>
            </a:pPr>
            <a:r>
              <a:t>user_id, product_id,</a:t>
            </a:r>
            <a:br/>
            <a:r>
              <a:t>created_at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98348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4983480"/>
            <a:ext cx="54864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Orders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623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onsolas"/>
              </a:defRPr>
            </a:pPr>
            <a:r>
              <a:t>order_number, status,</a:t>
            </a:r>
            <a:br/>
            <a:r>
              <a:t>total_amount, address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498348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0" y="4983480"/>
            <a:ext cx="54864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26280" y="512064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Payments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623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onsolas"/>
              </a:defRPr>
            </a:pPr>
            <a:r>
              <a:t>transaction_id, method,</a:t>
            </a:r>
            <a:br/>
            <a:r>
              <a:t>amount, status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498348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38160" y="498348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21040" y="51206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Reviews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623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onsolas"/>
              </a:defRPr>
            </a:pPr>
            <a:r>
              <a:t>rating, comment,</a:t>
            </a:r>
            <a:br/>
            <a:r>
              <a:t>vendor_response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Customer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End-to-end shopping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9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508760"/>
            <a:ext cx="1508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060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Poppins"/>
              </a:defRPr>
            </a:pPr>
            <a:r>
              <a:t>Create account</a:t>
            </a:r>
            <a:br/>
            <a:r>
              <a:t>with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4231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8528" y="1508760"/>
            <a:ext cx="1508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50008" y="1645920"/>
            <a:ext cx="502920" cy="50292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6060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Poppins"/>
              </a:defRPr>
            </a:pPr>
            <a:r>
              <a:t>Secure session</a:t>
            </a:r>
            <a:br/>
            <a: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4231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48456" y="1508760"/>
            <a:ext cx="1508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59936" y="164592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Browse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9896" y="26060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Poppins"/>
              </a:defRPr>
            </a:pPr>
            <a:r>
              <a:t>Search, filter</a:t>
            </a:r>
            <a:br/>
            <a:r>
              <a:t>&amp; explore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24231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58384" y="1508760"/>
            <a:ext cx="1508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69864" y="164592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9824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Wishlist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26060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Poppins"/>
              </a:defRPr>
            </a:pPr>
            <a:r>
              <a:t>Save favourite</a:t>
            </a:r>
            <a:br/>
            <a:r>
              <a:t>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5704" y="24231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68312" y="1508760"/>
            <a:ext cx="1508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79792" y="16459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Cart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26060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Poppins"/>
              </a:defRPr>
            </a:pPr>
            <a:r>
              <a:t>Add items &amp;</a:t>
            </a:r>
            <a:br/>
            <a:r>
              <a:t>adjust qty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24231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1508760"/>
            <a:ext cx="1508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89720" y="16459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Checkout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6060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Poppins"/>
              </a:defRPr>
            </a:pPr>
            <a:r>
              <a:t>Enter shipping</a:t>
            </a:r>
            <a:br/>
            <a:r>
              <a:t>&amp; place order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4231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88168" y="1508760"/>
            <a:ext cx="1508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899648" y="16459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79608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Poppins"/>
              </a:defRPr>
            </a:pPr>
            <a:r>
              <a:t>Track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79608" y="26060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Poppins"/>
              </a:defRPr>
            </a:pPr>
            <a:r>
              <a:t>View order</a:t>
            </a:r>
            <a:br/>
            <a:r>
              <a:t>history &amp; status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4343400"/>
            <a:ext cx="2743200" cy="45720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  <a:latin typeface="Poppins"/>
              </a:defRPr>
            </a:pPr>
            <a:r>
              <a:t>🔍 Advanced Search &amp; Filters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4343400"/>
            <a:ext cx="2743200" cy="45720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  <a:latin typeface="Poppins"/>
              </a:defRPr>
            </a:pPr>
            <a:r>
              <a:t>📱 Fully Responsive Design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343400"/>
            <a:ext cx="2743200" cy="45720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  <a:latin typeface="Poppins"/>
              </a:defRPr>
            </a:pPr>
            <a:r>
              <a:t>⭐ Product Reviews &amp; Ratings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4343400"/>
            <a:ext cx="2743200" cy="45720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  <a:latin typeface="Poppins"/>
              </a:defRPr>
            </a:pPr>
            <a:r>
              <a:t>📜 Detailed Order 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Additional Customer 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532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▸  Email verification on registration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532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▸  Password reset functionality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▸  Profile management with avatar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▸  Address book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Vendor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Complete store management toolkit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10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54864" cy="219456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Apply as vendor with store details,</a:t>
            </a:r>
            <a:br/>
            <a:r>
              <a:t>GSTIN, and business info. Admin approval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087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0876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17830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14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Real-time overview of sales, orders,</a:t>
            </a:r>
            <a:br/>
            <a:r>
              <a:t>revenue stats and key performance metrics.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5087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08760"/>
            <a:ext cx="54864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66760" y="17830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Product CRUD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514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Create, read, update &amp; delete products</a:t>
            </a:r>
            <a:br/>
            <a:r>
              <a:t>with multiple images, categories &amp; pricing.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233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54864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Inventory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Track stock levels, set low-stock</a:t>
            </a:r>
            <a:br/>
            <a:r>
              <a:t>alerts, manage product availability.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0233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4023360"/>
            <a:ext cx="54864" cy="219456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0" y="4297680"/>
            <a:ext cx="548640" cy="54864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Order 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View incoming orders, update order status,</a:t>
            </a:r>
            <a:br/>
            <a:r>
              <a:t>manage shipping and fulfillment.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0233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02336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66760" y="42976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Sales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Revenue trends, top-selling products,</a:t>
            </a:r>
            <a:br/>
            <a:r>
              <a:t>monthly performance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Admin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Platform-wide control &amp; oversight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11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54864" cy="219456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User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View, activate, suspend</a:t>
            </a:r>
            <a:br/>
            <a:r>
              <a:t>or delete user accounts.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087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08760"/>
            <a:ext cx="54864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17830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Vendor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14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Review vendor applications,</a:t>
            </a:r>
            <a:br/>
            <a:r>
              <a:t>approve or reject stores.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5087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0876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66760" y="17830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Product Oversight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514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Monitor all products,</a:t>
            </a:r>
            <a:br/>
            <a:r>
              <a:t>remove policy violations.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233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54864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Reports &amp;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Revenue, orders, users</a:t>
            </a:r>
            <a:br/>
            <a:r>
              <a:t>platform-wide statistics.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0233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4023360"/>
            <a:ext cx="54864" cy="219456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0" y="4297680"/>
            <a:ext cx="548640" cy="54864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Admin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Real-time overview of</a:t>
            </a:r>
            <a:br/>
            <a:r>
              <a:t>all platform activity.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023360"/>
            <a:ext cx="35204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02336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66760" y="42976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Activity 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Track all user actions for</a:t>
            </a:r>
            <a:br/>
            <a:r>
              <a:t>audit &amp;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Application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End-to-end user journey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12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828800"/>
            <a:ext cx="1280160" cy="1325880"/>
          </a:xfrm>
          <a:prstGeom prst="round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  <a:p>
            <a:pPr algn="ctr">
              <a:spcBef>
                <a:spcPts val="6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Register</a:t>
            </a:r>
            <a:br/>
            <a:r>
              <a:t>/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5648" y="1828800"/>
            <a:ext cx="1280160" cy="1325880"/>
          </a:xfrm>
          <a:prstGeom prst="round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  <a:p>
            <a:pPr algn="ctr">
              <a:spcBef>
                <a:spcPts val="6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Browse</a:t>
            </a:r>
            <a:br/>
            <a:r>
              <a:t>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6976" y="1828800"/>
            <a:ext cx="1280160" cy="13258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  <a:p>
            <a:pPr algn="ctr">
              <a:spcBef>
                <a:spcPts val="6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Add to</a:t>
            </a:r>
            <a:br/>
            <a:r>
              <a:t>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8304" y="1828800"/>
            <a:ext cx="1280160" cy="13258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  <a:p>
            <a:pPr algn="ctr">
              <a:spcBef>
                <a:spcPts val="6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Checkout</a:t>
            </a:r>
            <a:br/>
            <a:r>
              <a:t>&amp; 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828800"/>
            <a:ext cx="1280160" cy="1325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5</a:t>
            </a:r>
          </a:p>
          <a:p>
            <a:pPr algn="ctr">
              <a:spcBef>
                <a:spcPts val="6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Order</a:t>
            </a:r>
            <a:br/>
            <a:r>
              <a:t>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828800"/>
            <a:ext cx="1280160" cy="1325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6</a:t>
            </a:r>
          </a:p>
          <a:p>
            <a:pPr algn="ctr">
              <a:spcBef>
                <a:spcPts val="6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Vendor</a:t>
            </a:r>
            <a:br/>
            <a:r>
              <a:t>Processes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1828800"/>
            <a:ext cx="1280160" cy="1325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7</a:t>
            </a:r>
          </a:p>
          <a:p>
            <a:pPr algn="ctr">
              <a:spcBef>
                <a:spcPts val="6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Shipped &amp;</a:t>
            </a:r>
            <a:br/>
            <a:r>
              <a:t>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6728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43616" y="1828800"/>
            <a:ext cx="1280160" cy="1325880"/>
          </a:xfrm>
          <a:prstGeom prst="roundRect">
            <a:avLst/>
          </a:prstGeom>
          <a:solidFill>
            <a:srgbClr val="4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8</a:t>
            </a:r>
          </a:p>
          <a:p>
            <a:pPr algn="ctr">
              <a:spcBef>
                <a:spcPts val="600"/>
              </a:spcBef>
              <a:defRPr sz="1000">
                <a:solidFill>
                  <a:srgbClr val="FFFFFF"/>
                </a:solidFill>
                <a:latin typeface="Poppins"/>
              </a:defRPr>
            </a:pPr>
            <a:r>
              <a:t>Admin</a:t>
            </a:r>
            <a:br/>
            <a:r>
              <a:t>Monitors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57600"/>
            <a:ext cx="27432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54864" cy="132588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B4B"/>
                </a:solidFill>
                <a:latin typeface="Poppins"/>
              </a:defRPr>
            </a:pPr>
            <a:r>
              <a:t>Customer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Poppins"/>
              </a:defRPr>
            </a:pPr>
            <a:r>
              <a:t>Register → Browse → Cart → Checkout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57600"/>
            <a:ext cx="27432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3657600"/>
            <a:ext cx="54864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B4B"/>
                </a:solidFill>
                <a:latin typeface="Poppins"/>
              </a:defRPr>
            </a:pPr>
            <a:r>
              <a:t>System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Poppins"/>
              </a:defRPr>
            </a:pPr>
            <a:r>
              <a:t>Order Confirmed → Payment Processed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657600"/>
            <a:ext cx="27432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65760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B4B"/>
                </a:solidFill>
                <a:latin typeface="Poppins"/>
              </a:defRPr>
            </a:pPr>
            <a:r>
              <a:t>Vendor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Poppins"/>
              </a:defRPr>
            </a:pPr>
            <a:r>
              <a:t>Receive Order → Process → Ship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57600"/>
            <a:ext cx="27432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3657600"/>
            <a:ext cx="54864" cy="1325880"/>
          </a:xfrm>
          <a:prstGeom prst="rect">
            <a:avLst/>
          </a:prstGeom>
          <a:solidFill>
            <a:srgbClr val="4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B4B"/>
                </a:solidFill>
                <a:latin typeface="Poppins"/>
              </a:defRPr>
            </a:pPr>
            <a:r>
              <a:t>Admin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Poppins"/>
              </a:defRPr>
            </a:pPr>
            <a:r>
              <a:t>Monitor → Report → Manage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303520"/>
            <a:ext cx="105156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5303520"/>
            <a:ext cx="105156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B4B"/>
                </a:solidFill>
                <a:latin typeface="Poppins"/>
              </a:defRPr>
            </a:pPr>
            <a:r>
              <a:t>Complete Lifecycle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From user registration to order delivery, every step is tracked, managed, and monitored through the integrated platform with real-time status updates.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What makes this platform stand 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13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783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Multi-Vendor</a:t>
            </a:r>
            <a:br/>
            <a:r>
              <a:t>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182880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783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Responsive</a:t>
            </a:r>
            <a:br/>
            <a:r>
              <a:t>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0" y="182880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783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Secure</a:t>
            </a:r>
            <a:br/>
            <a:r>
              <a:t>Authentication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352044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474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Search &amp;</a:t>
            </a:r>
            <a:br/>
            <a:r>
              <a:t>Filter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20040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720" y="3520440"/>
            <a:ext cx="594360" cy="5943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❤️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474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Wishlist</a:t>
            </a:r>
            <a:br/>
            <a:r>
              <a:t>Save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20040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0" y="3520440"/>
            <a:ext cx="594360" cy="59436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74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Shopping</a:t>
            </a:r>
            <a:br/>
            <a:r>
              <a:t>Cart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9204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60" y="521208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166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Inventory</a:t>
            </a:r>
            <a:br/>
            <a:r>
              <a:t>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89204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17720" y="521208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5166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Order</a:t>
            </a:r>
            <a:br/>
            <a:r>
              <a:t>Tracking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89204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521208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5166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Poppins"/>
              </a:defRPr>
            </a:pPr>
            <a:r>
              <a:t>Sales</a:t>
            </a:r>
            <a:br/>
            <a:r>
              <a:t>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Why choose this marketplace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14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2120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08760"/>
            <a:ext cx="54864" cy="146304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828800"/>
            <a:ext cx="548640" cy="54864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Easy to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0574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Intuitive interface designed for all user</a:t>
            </a:r>
            <a:br/>
            <a:r>
              <a:t>types — customers, vendors, and admins.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08760"/>
            <a:ext cx="52120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Helps Small Businesses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0574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Ready-made platform for small businesses to</a:t>
            </a:r>
            <a:br/>
            <a:r>
              <a:t>reach customers without building their 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52120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20040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5204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383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Better Customer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7490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Smooth browsing, wishlists, reviews, and</a:t>
            </a:r>
            <a:br/>
            <a:r>
              <a:t>streamlined checkout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00400"/>
            <a:ext cx="52120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20040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35204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383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Scalable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7490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Modular design supports growing number</a:t>
            </a:r>
            <a:br/>
            <a:r>
              <a:t>of vendors, products, and users.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892040"/>
            <a:ext cx="52120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892040"/>
            <a:ext cx="54864" cy="146304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0120" y="5212080"/>
            <a:ext cx="548640" cy="54864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074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Secure &amp; Reliable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4406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Role-based access control, password hashing,</a:t>
            </a:r>
            <a:br/>
            <a:r>
              <a:t>and comprehensive input validation.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92040"/>
            <a:ext cx="52120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89204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52120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074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Centralized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4406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Single admin dashboard to monitor and</a:t>
            </a:r>
            <a:br/>
            <a:r>
              <a:t>control the entire platform operations.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Planned enhancements &amp;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15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2120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08760"/>
            <a:ext cx="54864" cy="100584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691640"/>
            <a:ext cx="457200" cy="45720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B4B"/>
                </a:solidFill>
                <a:latin typeface="Poppins"/>
              </a:defRPr>
            </a:pPr>
            <a:r>
              <a:t>Payment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Razorpay / Stripe for online payments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737360"/>
            <a:ext cx="100584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6DF5"/>
                </a:solidFill>
                <a:latin typeface="Poppins"/>
              </a:defRPr>
            </a:pPr>
            <a:r>
              <a:t>Phase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52120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54864" cy="1005840"/>
          </a:xfrm>
          <a:prstGeom prst="rect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B4B"/>
                </a:solidFill>
                <a:latin typeface="Poppins"/>
              </a:defRPr>
            </a:pPr>
            <a:r>
              <a:t>Mobile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Native Android/iOS 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1737360"/>
            <a:ext cx="100584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6DF5"/>
                </a:solidFill>
                <a:latin typeface="Poppins"/>
              </a:defRPr>
            </a:pPr>
            <a:r>
              <a:t>Phase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743200"/>
            <a:ext cx="52120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743200"/>
            <a:ext cx="54864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B4B"/>
                </a:solidFill>
                <a:latin typeface="Poppins"/>
              </a:defRPr>
            </a:pPr>
            <a:r>
              <a:t>AI Recommendations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154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ML-powered product suggestions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971800"/>
            <a:ext cx="100584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5CF6"/>
                </a:solidFill>
                <a:latin typeface="Poppins"/>
              </a:defRPr>
            </a:pPr>
            <a:r>
              <a:t>Phase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743200"/>
            <a:ext cx="52120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743200"/>
            <a:ext cx="54864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29260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B4B"/>
                </a:solidFill>
                <a:latin typeface="Poppins"/>
              </a:defRPr>
            </a:pPr>
            <a:r>
              <a:t>Delivery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154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Real-time map-based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2971800"/>
            <a:ext cx="100584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5CF6"/>
                </a:solidFill>
                <a:latin typeface="Poppins"/>
              </a:defRPr>
            </a:pPr>
            <a:r>
              <a:t>Phase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977640"/>
            <a:ext cx="52120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3977640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B4B"/>
                </a:solidFill>
                <a:latin typeface="Poppins"/>
              </a:defRPr>
            </a:pPr>
            <a:r>
              <a:t>Coupons &amp; Offers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Discount codes &amp; flash sales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4206240"/>
            <a:ext cx="100584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Poppins"/>
              </a:defRPr>
            </a:pPr>
            <a:r>
              <a:t>Phase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977640"/>
            <a:ext cx="52120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977640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B4B"/>
                </a:solidFill>
                <a:latin typeface="Poppins"/>
              </a:defRPr>
            </a:pPr>
            <a:r>
              <a:t>Email 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Automated order &amp; promo emails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4206240"/>
            <a:ext cx="100584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Poppins"/>
              </a:defRPr>
            </a:pPr>
            <a:r>
              <a:t>Phase 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37560" y="5212080"/>
            <a:ext cx="52120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37560" y="5212080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520440" y="53949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B4B"/>
                </a:solidFill>
                <a:latin typeface="Poppins"/>
              </a:defRPr>
            </a:pPr>
            <a:r>
              <a:t>Multi-language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62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Hindi, Marathi &amp; more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69480" y="5440680"/>
            <a:ext cx="1005840" cy="36576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Poppins"/>
              </a:defRPr>
            </a:pPr>
            <a:r>
              <a:t>Phase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Live application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16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omepage_hero_17860277751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338328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4747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1B4B"/>
                </a:solidFill>
                <a:latin typeface="Poppins"/>
              </a:defRPr>
            </a:pPr>
            <a:r>
              <a:t>Home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0876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08760"/>
            <a:ext cx="356616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hop_page_17860278317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38328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97680" y="34747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1B4B"/>
                </a:solidFill>
                <a:latin typeface="Poppins"/>
              </a:defRPr>
            </a:pPr>
            <a:r>
              <a:t>Shop 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50876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08760"/>
            <a:ext cx="356616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oduct_detail_17860279329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45920"/>
            <a:ext cx="3383280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8160" y="34747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1B4B"/>
                </a:solidFill>
                <a:latin typeface="Poppins"/>
              </a:defRPr>
            </a:pPr>
            <a:r>
              <a:t>Product Detail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356616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ustomer_dashboard_17860280451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3383280" cy="1828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6035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1B4B"/>
                </a:solidFill>
                <a:latin typeface="Poppins"/>
              </a:defRPr>
            </a:pPr>
            <a:r>
              <a:t>Customer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06908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069080"/>
            <a:ext cx="356616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vendor_dashboard_17860281324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4206240"/>
            <a:ext cx="3383280" cy="1828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297680" y="6035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1B4B"/>
                </a:solidFill>
                <a:latin typeface="Poppins"/>
              </a:defRPr>
            </a:pPr>
            <a:r>
              <a:t>Vendor 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06908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069080"/>
            <a:ext cx="356616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dmin_dashboard_17860281900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206240"/>
            <a:ext cx="3383280" cy="1828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138160" y="6035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1B4B"/>
                </a:solidFill>
                <a:latin typeface="Poppins"/>
              </a:defRPr>
            </a:pPr>
            <a:r>
              <a:t>Admin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0"/>
            <a:ext cx="1371600" cy="13716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1B4B"/>
                </a:solidFill>
                <a:latin typeface="Poppins"/>
              </a:defRPr>
            </a:pPr>
            <a:r>
              <a:t>Project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oppins"/>
              </a:defRPr>
            </a:pPr>
            <a:r>
              <a:t>Key takeaways &amp; achievements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16459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Poppins"/>
              </a:defRPr>
            </a:pPr>
            <a:r>
              <a:t>17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2120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4F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73736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Key Achievements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2402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Built a complete multi-vendor marketplace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Implemented 3 user roles with RBAC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Designed 16-table relational database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Created responsive UI with Bootstrap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2120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73736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73736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Skills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402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Full-stack web development (PHP + MySQL)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Database design &amp; normalization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UI/UX design principles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Version control with Git &amp; GitHub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2519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5196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Technologies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548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HTML5, CSS3, JavaScript, Bootstrap 5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PHP 8.x, MySQL / MariaDB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XAMPP, VS Code, Chrome DevTools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Git &amp; GitHub for collaboration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latin typeface="Segoe UI Emoji"/>
              </a:defRPr>
            </a:pPr>
            <a: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25196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B4B"/>
                </a:solidFill>
                <a:latin typeface="Poppins"/>
              </a:defRPr>
            </a:pPr>
            <a:r>
              <a:t>Internship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7548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Successfully completed the project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Gained real-world development experience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Learned project management &amp; planning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475569"/>
                </a:solidFill>
                <a:latin typeface="Poppins"/>
              </a:defRPr>
            </a:pPr>
            <a:r>
              <a:t>•  Ready for deployment &amp; future scaling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F3D"/>
            </a:gs>
            <a:gs pos="100000">
              <a:srgbClr val="1E0A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4F6DF5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8B5CF6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5486400"/>
            <a:ext cx="2743200" cy="2743200"/>
          </a:xfrm>
          <a:prstGeom prst="ellipse">
            <a:avLst/>
          </a:prstGeom>
          <a:solidFill>
            <a:srgbClr val="6366F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457200"/>
            <a:ext cx="109728" cy="109728"/>
          </a:xfrm>
          <a:prstGeom prst="ellipse">
            <a:avLst/>
          </a:prstGeom>
          <a:solidFill>
            <a:srgbClr val="C4B5F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914400"/>
            <a:ext cx="91440" cy="91440"/>
          </a:xfrm>
          <a:prstGeom prst="ellipse">
            <a:avLst/>
          </a:prstGeom>
          <a:solidFill>
            <a:srgbClr val="C4B5F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5943600"/>
            <a:ext cx="91440" cy="91440"/>
          </a:xfrm>
          <a:prstGeom prst="ellipse">
            <a:avLst/>
          </a:prstGeom>
          <a:solidFill>
            <a:srgbClr val="C4B5F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5486400"/>
            <a:ext cx="73152" cy="73152"/>
          </a:xfrm>
          <a:prstGeom prst="ellipse">
            <a:avLst/>
          </a:prstGeom>
          <a:solidFill>
            <a:srgbClr val="C4B5F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828800"/>
            <a:ext cx="118872" cy="118872"/>
          </a:xfrm>
          <a:prstGeom prst="ellipse">
            <a:avLst/>
          </a:prstGeom>
          <a:solidFill>
            <a:srgbClr val="C4B5F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1097280"/>
            <a:ext cx="6309360" cy="466344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097280"/>
            <a:ext cx="6309360" cy="54864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6459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B4B"/>
                </a:solidFill>
                <a:latin typeface="Poppins"/>
              </a:defRPr>
            </a:pPr>
            <a:r>
              <a:t>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606040"/>
            <a:ext cx="2103120" cy="36576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366F1"/>
                </a:solidFill>
                <a:latin typeface="Poppins"/>
              </a:defRPr>
            </a:pPr>
            <a:r>
              <a:t>Questions &amp;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29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 Emoji"/>
              </a:defRPr>
            </a:pPr>
            <a:r>
              <a:t>💬   📧   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931920"/>
            <a:ext cx="3017520" cy="27432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160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1B4B"/>
                </a:solidFill>
                <a:latin typeface="Poppins"/>
              </a:defRPr>
            </a:pPr>
            <a:r>
              <a:t>Rishiraj Sharma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720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Poppins"/>
              </a:defRPr>
            </a:pPr>
            <a:r>
              <a:t>Diploma in Computer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92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Poppins"/>
              </a:defRPr>
            </a:pPr>
            <a:r>
              <a:t>G. V. Acharya Polytechnic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257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Multi-Vendor Marketplace System  |  2025–2026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5705856"/>
            <a:ext cx="6309360" cy="54864"/>
          </a:xfrm>
          <a:prstGeom prst="rect">
            <a:avLst/>
          </a:prstGeom>
          <a:gradFill rotWithShape="1">
            <a:gsLst>
              <a:gs pos="0">
                <a:srgbClr val="4F6DF5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